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4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89" r:id="rId18"/>
    <p:sldId id="290" r:id="rId19"/>
    <p:sldId id="277" r:id="rId20"/>
    <p:sldId id="291" r:id="rId21"/>
    <p:sldId id="292" r:id="rId22"/>
    <p:sldId id="293" r:id="rId23"/>
    <p:sldId id="279" r:id="rId24"/>
    <p:sldId id="265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5"/>
  </p:normalViewPr>
  <p:slideViewPr>
    <p:cSldViewPr snapToGrid="0">
      <p:cViewPr varScale="1">
        <p:scale>
          <a:sx n="119" d="100"/>
          <a:sy n="119" d="100"/>
        </p:scale>
        <p:origin x="8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lamena Panayotova" userId="0e4e7a80-cc93-4086-98be-274018ec777b" providerId="ADAL" clId="{D33EA055-4D34-54EF-AA2F-1C87B5DC0C0A}"/>
    <pc:docChg chg="custSel modSld">
      <pc:chgData name="Plamena Panayotova" userId="0e4e7a80-cc93-4086-98be-274018ec777b" providerId="ADAL" clId="{D33EA055-4D34-54EF-AA2F-1C87B5DC0C0A}" dt="2026-10-02T07:25:05.403" v="38" actId="113"/>
      <pc:docMkLst>
        <pc:docMk/>
      </pc:docMkLst>
      <pc:sldChg chg="modSp mod">
        <pc:chgData name="Plamena Panayotova" userId="0e4e7a80-cc93-4086-98be-274018ec777b" providerId="ADAL" clId="{D33EA055-4D34-54EF-AA2F-1C87B5DC0C0A}" dt="2026-10-02T07:22:43.239" v="3" actId="20577"/>
        <pc:sldMkLst>
          <pc:docMk/>
          <pc:sldMk cId="1148011807" sldId="256"/>
        </pc:sldMkLst>
        <pc:spChg chg="mod">
          <ac:chgData name="Plamena Panayotova" userId="0e4e7a80-cc93-4086-98be-274018ec777b" providerId="ADAL" clId="{D33EA055-4D34-54EF-AA2F-1C87B5DC0C0A}" dt="2026-10-02T07:22:43.239" v="3" actId="20577"/>
          <ac:spMkLst>
            <pc:docMk/>
            <pc:sldMk cId="1148011807" sldId="256"/>
            <ac:spMk id="3" creationId="{3C4C258D-266D-100B-8377-F0011DB51409}"/>
          </ac:spMkLst>
        </pc:spChg>
      </pc:sldChg>
      <pc:sldChg chg="modSp mod">
        <pc:chgData name="Plamena Panayotova" userId="0e4e7a80-cc93-4086-98be-274018ec777b" providerId="ADAL" clId="{D33EA055-4D34-54EF-AA2F-1C87B5DC0C0A}" dt="2026-10-02T07:23:46.687" v="9" actId="20577"/>
        <pc:sldMkLst>
          <pc:docMk/>
          <pc:sldMk cId="1825893546" sldId="259"/>
        </pc:sldMkLst>
        <pc:spChg chg="mod">
          <ac:chgData name="Plamena Panayotova" userId="0e4e7a80-cc93-4086-98be-274018ec777b" providerId="ADAL" clId="{D33EA055-4D34-54EF-AA2F-1C87B5DC0C0A}" dt="2026-10-02T07:23:46.687" v="9" actId="20577"/>
          <ac:spMkLst>
            <pc:docMk/>
            <pc:sldMk cId="1825893546" sldId="259"/>
            <ac:spMk id="3" creationId="{8692A454-1126-21DA-5EFC-32C20DF06F5C}"/>
          </ac:spMkLst>
        </pc:spChg>
      </pc:sldChg>
      <pc:sldChg chg="modSp mod">
        <pc:chgData name="Plamena Panayotova" userId="0e4e7a80-cc93-4086-98be-274018ec777b" providerId="ADAL" clId="{D33EA055-4D34-54EF-AA2F-1C87B5DC0C0A}" dt="2026-10-02T07:25:05.403" v="38" actId="113"/>
        <pc:sldMkLst>
          <pc:docMk/>
          <pc:sldMk cId="4149435329" sldId="264"/>
        </pc:sldMkLst>
        <pc:spChg chg="mod">
          <ac:chgData name="Plamena Panayotova" userId="0e4e7a80-cc93-4086-98be-274018ec777b" providerId="ADAL" clId="{D33EA055-4D34-54EF-AA2F-1C87B5DC0C0A}" dt="2026-10-02T07:25:05.403" v="38" actId="113"/>
          <ac:spMkLst>
            <pc:docMk/>
            <pc:sldMk cId="4149435329" sldId="264"/>
            <ac:spMk id="3" creationId="{084B825C-0ACE-9CB6-DB43-E33418CB3A6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AA2EB2-B960-954F-AE8B-B85F236C5DF1}" type="datetimeFigureOut">
              <a:rPr lang="en-GB" smtClean="0"/>
              <a:t>02/10/2026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AAF37F-1CBD-B94D-9FAA-F4E598D597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68734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AAF37F-1CBD-B94D-9FAA-F4E598D597A5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10412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AAF37F-1CBD-B94D-9FAA-F4E598D597A5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01615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AAF37F-1CBD-B94D-9FAA-F4E598D597A5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4943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13866-99E9-AA19-ABF7-51CA6B8B0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C1DC39-E608-17B9-EC41-C3A5D46297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C37472-8441-09AB-2B5D-4A4C9A0B53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B7412C-AF52-8874-B606-0429AC1B8C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AAF37F-1CBD-B94D-9FAA-F4E598D597A5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63682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602BC-8BBE-5F34-981D-0C92D3968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B650CF-5ACB-F4AB-53C4-8A7D504470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536AAC-FE2F-D0EB-14F0-33E2F2153C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054CA5-4636-4F85-C8F9-DFEF2C4B6F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AAF37F-1CBD-B94D-9FAA-F4E598D597A5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40018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AAF37F-1CBD-B94D-9FAA-F4E598D597A5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10853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05455-7873-CEF4-5E8D-5F2F32E7F7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2416CB-0EDF-EE40-A5A9-BCB6376EE7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4931C4-A919-15D9-24B7-1E67B650F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FF3DF-60C3-6340-8F62-55849E15A17D}" type="datetimeFigureOut">
              <a:rPr lang="en-GB" smtClean="0"/>
              <a:t>02/10/2026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AA7237-8C76-3DDC-77F8-78654F401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26218F-4F6C-8D66-28B9-54464113B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63664-AD30-AF43-BC9D-AAC55941F8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02428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1D99B-5D2D-F5A0-62A9-3B1F49341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6C6B95-D4AA-FF91-5742-127908518E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C5A08D-9366-7EFD-614D-6D8B4B822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FF3DF-60C3-6340-8F62-55849E15A17D}" type="datetimeFigureOut">
              <a:rPr lang="en-GB" smtClean="0"/>
              <a:t>02/10/2026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08248C-D599-AFD7-7101-8F7F9C60D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8E6490-E38E-78AA-EC1D-D30D49D2E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63664-AD30-AF43-BC9D-AAC55941F8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7899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54ECE-1968-3143-CE6B-EF7ED45D3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32E5AC-9864-EAEF-8214-E46DB0CB35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FED0EC-2E4A-918A-4A1B-AC7C72950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FF3DF-60C3-6340-8F62-55849E15A17D}" type="datetimeFigureOut">
              <a:rPr lang="en-GB" smtClean="0"/>
              <a:t>02/10/2026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EACA6C-834B-5B67-73A8-CF622DE19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988871-C139-E095-DB42-908EF88D3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63664-AD30-AF43-BC9D-AAC55941F8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5104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6D1A5-77DE-EB15-BE01-BD2BAF05D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F3CF0E-DB2A-738D-4FDB-909C3C76FB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1D9DFC-3EDF-1D46-40E7-7413DDAF2F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1CF1FA-9603-6A9F-9783-DF4E11462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FF3DF-60C3-6340-8F62-55849E15A17D}" type="datetimeFigureOut">
              <a:rPr lang="en-GB" smtClean="0"/>
              <a:t>02/10/2026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A6ECB8-3308-0AFF-7716-BE63D69DE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D7C534-D20C-3F7F-659B-6C010CE05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63664-AD30-AF43-BC9D-AAC55941F8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4641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F9F5A-8B77-C130-984B-FBE8B67C4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B36CD6-B7EA-6B43-ECF1-C85BD9D218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5774B8-984E-2AB8-08DF-B5E80BD944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B85EE7-913A-00AB-4FB7-25ED1EC00D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92B0DD-AB2A-BEF6-48CE-FEFA087F69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C48F05-9C7F-6D0A-1F50-E46A99A57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FF3DF-60C3-6340-8F62-55849E15A17D}" type="datetimeFigureOut">
              <a:rPr lang="en-GB" smtClean="0"/>
              <a:t>02/10/2026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E0DB2D-93BD-3E26-6F52-C6D3C1D88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EB84D0-2613-178F-2EF8-2B8D383F4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63664-AD30-AF43-BC9D-AAC55941F8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0044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77FEA-6A88-B343-899D-95C1666BC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36AAE3-73DD-316D-DE7D-81CFC6D66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FF3DF-60C3-6340-8F62-55849E15A17D}" type="datetimeFigureOut">
              <a:rPr lang="en-GB" smtClean="0"/>
              <a:t>02/10/2026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018A70-E468-90EF-F2C4-D514F93C9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00774D-3311-F108-5546-3A2A9F49B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63664-AD30-AF43-BC9D-AAC55941F8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03332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74AF47-47B8-9331-0C9B-BC6BCB54A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FF3DF-60C3-6340-8F62-55849E15A17D}" type="datetimeFigureOut">
              <a:rPr lang="en-GB" smtClean="0"/>
              <a:t>02/10/2026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972FE6-25E8-3529-BCBB-BEFB5032E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4183E4-2BE2-8AC2-C0BE-E55A54C7F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63664-AD30-AF43-BC9D-AAC55941F8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8403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35833-6D42-D6FF-5291-0EF71C1E9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0A1E05-7A27-9A5B-5BC1-DC16FA6BB5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A22C05-1BEF-2462-5F42-D4DCD326A1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8194BC-BB6D-009B-56F4-CA94B7C0E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FF3DF-60C3-6340-8F62-55849E15A17D}" type="datetimeFigureOut">
              <a:rPr lang="en-GB" smtClean="0"/>
              <a:t>02/10/2026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CA201D-F450-5576-1259-DF9CAC943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DEFA5D-8015-EC27-2986-B2A4B7234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63664-AD30-AF43-BC9D-AAC55941F8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7063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124BF-A457-1DB6-9392-9ABEAA106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D1ECC7-3805-3EC7-BEB8-B976AF00DA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D3B15C-0C4B-9E44-CF4F-09BB70A655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A7EC90-00B5-1B0B-C8F9-E9A5566A3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FF3DF-60C3-6340-8F62-55849E15A17D}" type="datetimeFigureOut">
              <a:rPr lang="en-GB" smtClean="0"/>
              <a:t>02/10/2026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EF7555-7819-F5B1-0B7B-8C40795E1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2157DF-49DA-987B-3749-353BB91F1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63664-AD30-AF43-BC9D-AAC55941F8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3101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E7AF2-1FB1-9CFD-6041-BEEDD6493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B9F0D6-01E4-D676-042F-A125014F87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F317-9939-16E0-9617-ABB3EC527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FF3DF-60C3-6340-8F62-55849E15A17D}" type="datetimeFigureOut">
              <a:rPr lang="en-GB" smtClean="0"/>
              <a:t>02/10/2026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D6186C-4B81-2B1A-963D-23B3627DC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E95382-E40E-2AE6-8BBB-01B4156AD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63664-AD30-AF43-BC9D-AAC55941F8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27476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123087-3DC1-CBCA-E26A-D8A2164965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367979-0791-F271-ABA7-61A9933102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EBC02-CAF4-4B0F-8A81-654EEBEA7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FF3DF-60C3-6340-8F62-55849E15A17D}" type="datetimeFigureOut">
              <a:rPr lang="en-GB" smtClean="0"/>
              <a:t>02/10/2026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EE0D9F-32E0-54B6-78E7-3984411D7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27963E-91A9-D0C9-0912-AE0B16832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63664-AD30-AF43-BC9D-AAC55941F8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608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CFE34F-0796-0B3C-2F26-8FE606FD0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626647-168E-2632-8CC5-BC5F010211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3F921B-0F58-2378-45EA-45A1C5EE94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FFF3DF-60C3-6340-8F62-55849E15A17D}" type="datetimeFigureOut">
              <a:rPr lang="en-GB" smtClean="0"/>
              <a:t>02/10/2026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B7C6CC-FAB7-51D8-FC12-E5CA8867E5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FBB056-FB68-8B11-3286-E9A62E6341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763664-AD30-AF43-BC9D-AAC55941F8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4904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mailto:plamena.panayotova@glasgow.ac.uk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0DD57-C974-AA45-75E4-198BCBFA28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3135" y="1122363"/>
            <a:ext cx="10143460" cy="3258251"/>
          </a:xfrm>
        </p:spPr>
        <p:txBody>
          <a:bodyPr/>
          <a:lstStyle/>
          <a:p>
            <a:r>
              <a:rPr lang="en-GB" dirty="0"/>
              <a:t>Quantitative Data Analysis </a:t>
            </a:r>
            <a:br>
              <a:rPr lang="en-GB" dirty="0"/>
            </a:br>
            <a:br>
              <a:rPr lang="en-GB" dirty="0"/>
            </a:br>
            <a:r>
              <a:rPr lang="en-GB" dirty="0"/>
              <a:t>Lab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4C258D-266D-100B-8377-F0011DB514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96409" y="5048069"/>
            <a:ext cx="9144000" cy="1655762"/>
          </a:xfrm>
        </p:spPr>
        <p:txBody>
          <a:bodyPr>
            <a:normAutofit/>
          </a:bodyPr>
          <a:lstStyle/>
          <a:p>
            <a:r>
              <a:rPr lang="en-GB" sz="4000" dirty="0"/>
              <a:t>2/10/2026</a:t>
            </a:r>
          </a:p>
        </p:txBody>
      </p:sp>
    </p:spTree>
    <p:extLst>
      <p:ext uri="{BB962C8B-B14F-4D97-AF65-F5344CB8AC3E}">
        <p14:creationId xmlns:p14="http://schemas.microsoft.com/office/powerpoint/2010/main" val="11480118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B93B1-6BD0-7009-3DFC-7AAF52A46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Tutor contact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D7BC47-8AEB-FF81-46E9-9D6907564C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3200" b="1"/>
              <a:t>Dr Plamena Panayotova </a:t>
            </a:r>
          </a:p>
          <a:p>
            <a:pPr marL="0" indent="0">
              <a:buNone/>
            </a:pPr>
            <a:r>
              <a:rPr lang="en-GB" sz="3200">
                <a:hlinkClick r:id="rId2"/>
              </a:rPr>
              <a:t>plamena.panayotova@glasgow.ac.uk</a:t>
            </a:r>
            <a:endParaRPr lang="en-GB" sz="3200"/>
          </a:p>
        </p:txBody>
      </p:sp>
    </p:spTree>
    <p:extLst>
      <p:ext uri="{BB962C8B-B14F-4D97-AF65-F5344CB8AC3E}">
        <p14:creationId xmlns:p14="http://schemas.microsoft.com/office/powerpoint/2010/main" val="41623459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123BE-F583-85A1-64D3-16634FB4F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Labs (suggested)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EA8B90-3BE9-1469-7DFE-D276C6C945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3200"/>
              <a:t>Each lab session lasts </a:t>
            </a:r>
            <a:r>
              <a:rPr lang="en-GB" sz="3200" b="1"/>
              <a:t>1.5 hours</a:t>
            </a:r>
            <a:r>
              <a:rPr lang="en-GB" sz="3200"/>
              <a:t>:</a:t>
            </a:r>
          </a:p>
          <a:p>
            <a:endParaRPr lang="en-GB" sz="3200"/>
          </a:p>
          <a:p>
            <a:pPr lvl="1"/>
            <a:r>
              <a:rPr lang="en-GB" sz="2800" b="1"/>
              <a:t>Part 1 (ca. 55 mins) </a:t>
            </a:r>
            <a:r>
              <a:rPr lang="en-GB" sz="2800"/>
              <a:t>– Exercises in R Studio</a:t>
            </a:r>
          </a:p>
          <a:p>
            <a:pPr lvl="2"/>
            <a:endParaRPr lang="en-GB" sz="2400"/>
          </a:p>
          <a:p>
            <a:pPr lvl="1"/>
            <a:r>
              <a:rPr lang="en-GB" sz="2800" b="1"/>
              <a:t>Break (5 mins)</a:t>
            </a:r>
          </a:p>
          <a:p>
            <a:pPr lvl="1"/>
            <a:endParaRPr lang="en-GB" sz="2800"/>
          </a:p>
          <a:p>
            <a:pPr lvl="1"/>
            <a:r>
              <a:rPr lang="en-GB" sz="2800" b="1"/>
              <a:t>Part 2 (ca. 30 mins) </a:t>
            </a:r>
            <a:r>
              <a:rPr lang="en-GB" sz="2800"/>
              <a:t>– Working towards your project</a:t>
            </a:r>
          </a:p>
          <a:p>
            <a:pPr lvl="2"/>
            <a:endParaRPr lang="en-GB"/>
          </a:p>
          <a:p>
            <a:pPr lvl="1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3816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274EE-17BD-5EE8-100E-9083C43C8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Part 1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92A454-1126-21DA-5EFC-32C20DF06F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995837" cy="4575175"/>
          </a:xfrm>
        </p:spPr>
        <p:txBody>
          <a:bodyPr>
            <a:noAutofit/>
          </a:bodyPr>
          <a:lstStyle/>
          <a:p>
            <a:r>
              <a:rPr lang="en-GB" sz="2800" dirty="0"/>
              <a:t>Link on Moodle &gt;&gt; Tutorials &gt;&gt; </a:t>
            </a:r>
            <a:r>
              <a:rPr lang="en-GB" sz="2800" b="1" dirty="0"/>
              <a:t>Tutorial exercises</a:t>
            </a:r>
          </a:p>
          <a:p>
            <a:r>
              <a:rPr lang="en-GB" b="1" dirty="0"/>
              <a:t>Cumulative structure </a:t>
            </a:r>
            <a:r>
              <a:rPr lang="en-GB" dirty="0"/>
              <a:t>– it’s fine if you don’t finish the exercises by the end of the first hour; however, make sure that you complete them </a:t>
            </a:r>
            <a:r>
              <a:rPr lang="en-GB" i="1" dirty="0"/>
              <a:t>before</a:t>
            </a:r>
            <a:r>
              <a:rPr lang="en-GB" dirty="0"/>
              <a:t> the next session. </a:t>
            </a:r>
          </a:p>
          <a:p>
            <a:r>
              <a:rPr lang="en-GB" dirty="0"/>
              <a:t>You may work </a:t>
            </a:r>
            <a:r>
              <a:rPr lang="en-GB" b="1" dirty="0"/>
              <a:t>independently</a:t>
            </a:r>
            <a:r>
              <a:rPr lang="en-GB" dirty="0"/>
              <a:t> or </a:t>
            </a:r>
            <a:r>
              <a:rPr lang="en-GB" b="1" dirty="0"/>
              <a:t>in groups</a:t>
            </a:r>
            <a:r>
              <a:rPr lang="en-GB" dirty="0"/>
              <a:t>. </a:t>
            </a:r>
          </a:p>
          <a:p>
            <a:r>
              <a:rPr lang="en-GB" dirty="0">
                <a:solidFill>
                  <a:srgbClr val="C00000"/>
                </a:solidFill>
              </a:rPr>
              <a:t>Think about (and discuss with your peers) what each line of code </a:t>
            </a:r>
            <a:r>
              <a:rPr lang="en-GB" b="1" i="1" dirty="0">
                <a:solidFill>
                  <a:srgbClr val="C00000"/>
                </a:solidFill>
              </a:rPr>
              <a:t>does</a:t>
            </a:r>
            <a:r>
              <a:rPr lang="en-GB" dirty="0">
                <a:solidFill>
                  <a:srgbClr val="C00000"/>
                </a:solidFill>
              </a:rPr>
              <a:t> and what the output </a:t>
            </a:r>
            <a:r>
              <a:rPr lang="en-GB" b="1" i="1" dirty="0">
                <a:solidFill>
                  <a:srgbClr val="C00000"/>
                </a:solidFill>
              </a:rPr>
              <a:t>means</a:t>
            </a:r>
            <a:r>
              <a:rPr lang="en-GB" dirty="0">
                <a:solidFill>
                  <a:srgbClr val="C00000"/>
                </a:solidFill>
              </a:rPr>
              <a:t>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258935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F3A53-499E-6EA0-F05A-E70F8D53F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Part 1 - Tutorial exercises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65979-720E-7B79-13B7-1523C29C10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/>
              <a:t>Lab 1: Reading in our data</a:t>
            </a:r>
          </a:p>
          <a:p>
            <a:r>
              <a:rPr lang="en-GB"/>
              <a:t>Lab 2: Descriptive Statistics</a:t>
            </a:r>
          </a:p>
          <a:p>
            <a:r>
              <a:rPr lang="en-GB"/>
              <a:t>Lab 3: Data Visualisation - Numeric variables</a:t>
            </a:r>
          </a:p>
          <a:p>
            <a:r>
              <a:rPr lang="en-GB"/>
              <a:t>Lab 4: Data Visualisation - Numeric and Factor variables</a:t>
            </a:r>
          </a:p>
          <a:p>
            <a:r>
              <a:rPr lang="en-GB"/>
              <a:t>Lab 5: Inference - the t-test</a:t>
            </a:r>
          </a:p>
          <a:p>
            <a:r>
              <a:rPr lang="en-GB"/>
              <a:t>Lab 6: Inference - ANOVA and Correlation</a:t>
            </a:r>
          </a:p>
          <a:p>
            <a:r>
              <a:rPr lang="en-GB"/>
              <a:t>Lab 7: Model Building</a:t>
            </a:r>
          </a:p>
          <a:p>
            <a:r>
              <a:rPr lang="en-GB"/>
              <a:t>Lab 8: Diagnostics I</a:t>
            </a:r>
          </a:p>
          <a:p>
            <a:r>
              <a:rPr lang="en-GB"/>
              <a:t>Lab 9 and 10: Diagnostics II</a:t>
            </a:r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3261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01023-B6EC-4F13-B1B1-90AFB8AF5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Part 2 – Working towards your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D6211B-D940-F358-3A06-F3D6296B17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78878" cy="4667250"/>
          </a:xfrm>
        </p:spPr>
        <p:txBody>
          <a:bodyPr>
            <a:noAutofit/>
          </a:bodyPr>
          <a:lstStyle/>
          <a:p>
            <a:r>
              <a:rPr lang="en-GB" sz="2400" kern="100">
                <a:latin typeface="Aptos "/>
                <a:ea typeface="Aptos" panose="020B0004020202020204" pitchFamily="34" charset="0"/>
                <a:cs typeface="Times New Roman" panose="02020603050405020304" pitchFamily="18" charset="0"/>
              </a:rPr>
              <a:t>Workshop 1: Your research question and variables </a:t>
            </a:r>
          </a:p>
          <a:p>
            <a:r>
              <a:rPr lang="en-GB" sz="2400" kern="100">
                <a:latin typeface="Aptos "/>
                <a:ea typeface="Aptos" panose="020B0004020202020204" pitchFamily="34" charset="0"/>
                <a:cs typeface="Times New Roman" panose="02020603050405020304" pitchFamily="18" charset="0"/>
              </a:rPr>
              <a:t>Workshop 2: Identifying possible datasets </a:t>
            </a:r>
          </a:p>
          <a:p>
            <a:r>
              <a:rPr lang="en-GB" sz="2400" kern="100">
                <a:latin typeface="Aptos "/>
                <a:ea typeface="Aptos" panose="020B0004020202020204" pitchFamily="34" charset="0"/>
                <a:cs typeface="Times New Roman" panose="02020603050405020304" pitchFamily="18" charset="0"/>
              </a:rPr>
              <a:t>Workshop 3: Getting your data and reading it into R </a:t>
            </a:r>
          </a:p>
          <a:p>
            <a:r>
              <a:rPr lang="en-GB" sz="2400" kern="100">
                <a:latin typeface="Aptos "/>
                <a:ea typeface="Aptos" panose="020B0004020202020204" pitchFamily="34" charset="0"/>
                <a:cs typeface="Times New Roman" panose="02020603050405020304" pitchFamily="18" charset="0"/>
              </a:rPr>
              <a:t>Workshop 4: Data Cleaning </a:t>
            </a:r>
          </a:p>
          <a:p>
            <a:r>
              <a:rPr lang="en-GB" sz="2400" kern="100">
                <a:latin typeface="Aptos "/>
                <a:ea typeface="Aptos" panose="020B0004020202020204" pitchFamily="34" charset="0"/>
                <a:cs typeface="Times New Roman" panose="02020603050405020304" pitchFamily="18" charset="0"/>
              </a:rPr>
              <a:t>Workshop 5: Exploring the Dependent Variable and Research Question </a:t>
            </a:r>
          </a:p>
          <a:p>
            <a:r>
              <a:rPr lang="en-GB" sz="2400">
                <a:solidFill>
                  <a:srgbClr val="153D63"/>
                </a:solidFill>
                <a:latin typeface="Aptos "/>
                <a:ea typeface="Aptos" panose="020B0004020202020204" pitchFamily="34" charset="0"/>
                <a:cs typeface="Times New Roman" panose="02020603050405020304" pitchFamily="18" charset="0"/>
              </a:rPr>
              <a:t>Workshop 6: </a:t>
            </a:r>
            <a:r>
              <a:rPr lang="en-GB" sz="2400">
                <a:latin typeface="Aptos "/>
                <a:ea typeface="Aptos" panose="020B0004020202020204" pitchFamily="34" charset="0"/>
                <a:cs typeface="Times New Roman" panose="02020603050405020304" pitchFamily="18" charset="0"/>
              </a:rPr>
              <a:t>Selecting an appropriate inferential test</a:t>
            </a:r>
            <a:endParaRPr lang="en-GB" sz="2400">
              <a:solidFill>
                <a:srgbClr val="153D63"/>
              </a:solidFill>
              <a:latin typeface="Aptos 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n-GB" sz="2400">
                <a:latin typeface="Aptos "/>
                <a:ea typeface="Aptos" panose="020B0004020202020204" pitchFamily="34" charset="0"/>
                <a:cs typeface="Times New Roman" panose="02020603050405020304" pitchFamily="18" charset="0"/>
              </a:rPr>
              <a:t>Workshop 7: Creating a Model Building strategy </a:t>
            </a:r>
            <a:endParaRPr lang="en-GB" sz="2400" kern="100">
              <a:latin typeface="Aptos 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n-GB" sz="2400">
                <a:latin typeface="Aptos "/>
                <a:ea typeface="Aptos" panose="020B0004020202020204" pitchFamily="34" charset="0"/>
                <a:cs typeface="Times New Roman" panose="02020603050405020304" pitchFamily="18" charset="0"/>
              </a:rPr>
              <a:t>Workshop 8: </a:t>
            </a:r>
            <a:r>
              <a:rPr lang="en-GB" sz="2400" kern="100">
                <a:latin typeface="Aptos "/>
                <a:ea typeface="Aptos" panose="020B0004020202020204" pitchFamily="34" charset="0"/>
                <a:cs typeface="Times New Roman" panose="02020603050405020304" pitchFamily="18" charset="0"/>
              </a:rPr>
              <a:t>Diagnostic testing</a:t>
            </a:r>
            <a:endParaRPr lang="en-GB" sz="2400">
              <a:latin typeface="Aptos 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n-GB" sz="2400" kern="100">
                <a:latin typeface="Aptos "/>
                <a:ea typeface="Aptos" panose="020B0004020202020204" pitchFamily="34" charset="0"/>
                <a:cs typeface="Times New Roman" panose="02020603050405020304" pitchFamily="18" charset="0"/>
              </a:rPr>
              <a:t>Workshop 9: A Robust, Final Model</a:t>
            </a:r>
          </a:p>
          <a:p>
            <a:r>
              <a:rPr lang="en-GB" sz="2400" kern="100">
                <a:latin typeface="Aptos "/>
                <a:ea typeface="Aptos" panose="020B0004020202020204" pitchFamily="34" charset="0"/>
                <a:cs typeface="Times New Roman" panose="02020603050405020304" pitchFamily="18" charset="0"/>
              </a:rPr>
              <a:t>Workshop 10: Working on Summative Assignment</a:t>
            </a:r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69870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C1FA1-B23E-181E-02D6-95D1DB8E9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39" y="2766218"/>
            <a:ext cx="10515600" cy="1325563"/>
          </a:xfrm>
        </p:spPr>
        <p:txBody>
          <a:bodyPr/>
          <a:lstStyle/>
          <a:p>
            <a:r>
              <a:rPr lang="en-GB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12853936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412FA-480B-3E97-1198-4623B36D9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Lab 1 – Part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4B825C-0ACE-9CB6-DB43-E33418CB3A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Open the Lab Tutorial exercises file via the link on Moodle.</a:t>
            </a:r>
          </a:p>
          <a:p>
            <a:r>
              <a:rPr lang="en-GB" dirty="0"/>
              <a:t>Download R and RStudio (if you haven’t already) and open R Studio.</a:t>
            </a:r>
          </a:p>
          <a:p>
            <a:r>
              <a:rPr lang="en-GB" dirty="0"/>
              <a:t>Set up an </a:t>
            </a:r>
            <a:r>
              <a:rPr lang="en-GB" b="1" dirty="0"/>
              <a:t>R Project</a:t>
            </a:r>
          </a:p>
          <a:p>
            <a:pPr lvl="1"/>
            <a:r>
              <a:rPr lang="en-GB" dirty="0"/>
              <a:t>Keeps all you files and datasets together and makes it easy and quick to access them.</a:t>
            </a:r>
          </a:p>
          <a:p>
            <a:r>
              <a:rPr lang="en-GB" dirty="0"/>
              <a:t>Download the </a:t>
            </a:r>
            <a:r>
              <a:rPr lang="en-GB" dirty="0" err="1"/>
              <a:t>AirBnB</a:t>
            </a:r>
            <a:r>
              <a:rPr lang="en-GB" dirty="0"/>
              <a:t> data (</a:t>
            </a:r>
            <a:r>
              <a:rPr lang="en-GB" b="1" dirty="0" err="1"/>
              <a:t>listings_edinburgh.csv</a:t>
            </a:r>
            <a:r>
              <a:rPr lang="en-GB" dirty="0"/>
              <a:t>).</a:t>
            </a:r>
          </a:p>
          <a:p>
            <a:r>
              <a:rPr lang="en-GB" dirty="0"/>
              <a:t>Open an </a:t>
            </a:r>
            <a:r>
              <a:rPr lang="en-GB" b="1" dirty="0"/>
              <a:t>R markdown and get familiar with its structure.</a:t>
            </a:r>
            <a:endParaRPr lang="en-GB" dirty="0"/>
          </a:p>
          <a:p>
            <a:r>
              <a:rPr lang="en-GB" dirty="0"/>
              <a:t>Work through the exercises listed under Tutorial 1.</a:t>
            </a:r>
          </a:p>
        </p:txBody>
      </p:sp>
    </p:spTree>
    <p:extLst>
      <p:ext uri="{BB962C8B-B14F-4D97-AF65-F5344CB8AC3E}">
        <p14:creationId xmlns:p14="http://schemas.microsoft.com/office/powerpoint/2010/main" val="41494353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131C4-5071-8F18-D19C-789EC23E8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Setting up an R project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8E9625D-F14C-A4E3-CA06-99D7B476C7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48722" y="1681720"/>
            <a:ext cx="8294556" cy="4811155"/>
          </a:xfr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EB237659-E0FA-9ABD-853E-415491D6E531}"/>
              </a:ext>
            </a:extLst>
          </p:cNvPr>
          <p:cNvSpPr/>
          <p:nvPr/>
        </p:nvSpPr>
        <p:spPr>
          <a:xfrm>
            <a:off x="7236632" y="1403498"/>
            <a:ext cx="3561907" cy="1339703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53793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C48C0-225C-4CAD-00DB-263B8AD57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64606-6387-FF23-FF58-85357B94E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Setting up an R project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C35EBA8-4E7B-057A-8AE7-A71C3EBB70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2718" y="1836257"/>
            <a:ext cx="5560945" cy="4351338"/>
          </a:xfr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B36D196C-DF18-09F5-E664-F96362DC0B5C}"/>
              </a:ext>
            </a:extLst>
          </p:cNvPr>
          <p:cNvSpPr/>
          <p:nvPr/>
        </p:nvSpPr>
        <p:spPr>
          <a:xfrm>
            <a:off x="115127" y="2406504"/>
            <a:ext cx="4520667" cy="1187302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3478501-D5F6-1C7B-BFC6-E4D68B10F0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573730"/>
            <a:ext cx="5614484" cy="4351338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34138F6B-08DE-D026-2F3C-EE18DB28816C}"/>
              </a:ext>
            </a:extLst>
          </p:cNvPr>
          <p:cNvSpPr/>
          <p:nvPr/>
        </p:nvSpPr>
        <p:spPr>
          <a:xfrm>
            <a:off x="6273209" y="2760922"/>
            <a:ext cx="2108605" cy="478466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6B193022-C487-32A0-8006-C514E8A7EA31}"/>
              </a:ext>
            </a:extLst>
          </p:cNvPr>
          <p:cNvSpPr/>
          <p:nvPr/>
        </p:nvSpPr>
        <p:spPr>
          <a:xfrm>
            <a:off x="5465135" y="3593806"/>
            <a:ext cx="861237" cy="155593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25202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168C3-8438-60DF-5590-7E09CC1E6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40254-11FE-CDA9-9741-6BEDE6C65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Setting up an R project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80C68DE-322B-A14E-EB67-556B74E6F7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11597" y="1376917"/>
            <a:ext cx="7498206" cy="5516990"/>
          </a:xfrm>
        </p:spPr>
      </p:pic>
      <p:sp>
        <p:nvSpPr>
          <p:cNvPr id="9" name="Rounded Rectangular Callout 8">
            <a:extLst>
              <a:ext uri="{FF2B5EF4-FFF2-40B4-BE49-F238E27FC236}">
                <a16:creationId xmlns:a16="http://schemas.microsoft.com/office/drawing/2014/main" id="{66BBB91C-25AD-C006-ADC7-F733AB7F6EAA}"/>
              </a:ext>
            </a:extLst>
          </p:cNvPr>
          <p:cNvSpPr/>
          <p:nvPr/>
        </p:nvSpPr>
        <p:spPr>
          <a:xfrm>
            <a:off x="7179874" y="1376917"/>
            <a:ext cx="2881423" cy="1281223"/>
          </a:xfrm>
          <a:prstGeom prst="wedgeRoundRectCallout">
            <a:avLst>
              <a:gd name="adj1" fmla="val -98693"/>
              <a:gd name="adj2" fmla="val 76608"/>
              <a:gd name="adj3" fmla="val 16667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tx1"/>
                </a:solidFill>
              </a:rPr>
              <a:t>1. Choose a simple and clear name for the project</a:t>
            </a:r>
          </a:p>
        </p:txBody>
      </p:sp>
      <p:sp>
        <p:nvSpPr>
          <p:cNvPr id="10" name="Rounded Rectangular Callout 9">
            <a:extLst>
              <a:ext uri="{FF2B5EF4-FFF2-40B4-BE49-F238E27FC236}">
                <a16:creationId xmlns:a16="http://schemas.microsoft.com/office/drawing/2014/main" id="{3C3E3D08-D746-CA44-F53D-2105DA3C7945}"/>
              </a:ext>
            </a:extLst>
          </p:cNvPr>
          <p:cNvSpPr/>
          <p:nvPr/>
        </p:nvSpPr>
        <p:spPr>
          <a:xfrm>
            <a:off x="7179874" y="3325333"/>
            <a:ext cx="3449785" cy="1749056"/>
          </a:xfrm>
          <a:prstGeom prst="wedgeRoundRectCallout">
            <a:avLst>
              <a:gd name="adj1" fmla="val -71383"/>
              <a:gd name="adj2" fmla="val -35039"/>
              <a:gd name="adj3" fmla="val 16667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tx1"/>
                </a:solidFill>
              </a:rPr>
              <a:t>2. Choose a folder where you’d like the R project to appear; R will create a new subfolder inside. This subfolder will host the newly created R project.</a:t>
            </a:r>
          </a:p>
        </p:txBody>
      </p:sp>
      <p:sp>
        <p:nvSpPr>
          <p:cNvPr id="11" name="Rounded Rectangular Callout 10">
            <a:extLst>
              <a:ext uri="{FF2B5EF4-FFF2-40B4-BE49-F238E27FC236}">
                <a16:creationId xmlns:a16="http://schemas.microsoft.com/office/drawing/2014/main" id="{2381B5EE-B72B-BDAA-C8D2-989A699AE8FB}"/>
              </a:ext>
            </a:extLst>
          </p:cNvPr>
          <p:cNvSpPr/>
          <p:nvPr/>
        </p:nvSpPr>
        <p:spPr>
          <a:xfrm>
            <a:off x="7179874" y="5654059"/>
            <a:ext cx="2396516" cy="1054975"/>
          </a:xfrm>
          <a:prstGeom prst="wedgeRoundRectCallout">
            <a:avLst>
              <a:gd name="adj1" fmla="val -124366"/>
              <a:gd name="adj2" fmla="val -42222"/>
              <a:gd name="adj3" fmla="val 16667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tx1"/>
                </a:solidFill>
              </a:rPr>
              <a:t>3. Select “Create Project”</a:t>
            </a:r>
          </a:p>
        </p:txBody>
      </p:sp>
    </p:spTree>
    <p:extLst>
      <p:ext uri="{BB962C8B-B14F-4D97-AF65-F5344CB8AC3E}">
        <p14:creationId xmlns:p14="http://schemas.microsoft.com/office/powerpoint/2010/main" val="41624784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D5B6B3-8D90-15A3-44DC-C1F348A90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6BEDB-13E7-ABCF-3530-022FC7C44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Setting up an R project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2053A43-88F5-B21A-C3EF-1FB3E63C4E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15356" b="13271"/>
          <a:stretch/>
        </p:blipFill>
        <p:spPr>
          <a:xfrm>
            <a:off x="3594402" y="1690688"/>
            <a:ext cx="5221762" cy="4979318"/>
          </a:xfr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85A0EA6A-DE41-C6DD-94E5-FBC420D7A4C7}"/>
              </a:ext>
            </a:extLst>
          </p:cNvPr>
          <p:cNvSpPr/>
          <p:nvPr/>
        </p:nvSpPr>
        <p:spPr>
          <a:xfrm>
            <a:off x="6715638" y="1421482"/>
            <a:ext cx="2864298" cy="1233376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698959A-BA05-5CE3-9E20-74C10212B3D7}"/>
              </a:ext>
            </a:extLst>
          </p:cNvPr>
          <p:cNvSpPr/>
          <p:nvPr/>
        </p:nvSpPr>
        <p:spPr>
          <a:xfrm>
            <a:off x="3594402" y="5554041"/>
            <a:ext cx="2864298" cy="1233376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11245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70195-333A-4376-DF36-591F74F6A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4FC17-93CE-3BC7-50EC-F63256AAA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Setting up an R project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BB9AD1A-F278-A4C4-2E79-A6AD84E2C5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69483" y="2249286"/>
            <a:ext cx="6616700" cy="2844800"/>
          </a:xfr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D9D65E9B-C161-674A-34E8-174A6B7C1955}"/>
              </a:ext>
            </a:extLst>
          </p:cNvPr>
          <p:cNvSpPr/>
          <p:nvPr/>
        </p:nvSpPr>
        <p:spPr>
          <a:xfrm>
            <a:off x="3052142" y="3860710"/>
            <a:ext cx="2864298" cy="1233376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39815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C93E6-0387-41D4-B63A-DC464DB15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71F16-E735-0C87-8345-5A4B08A25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Download the </a:t>
            </a:r>
            <a:r>
              <a:rPr lang="en-GB" err="1"/>
              <a:t>AirBnB</a:t>
            </a:r>
            <a:r>
              <a:rPr lang="en-GB"/>
              <a:t> data from Moodle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A3E603F-D89B-0F85-17C5-7AC73A574E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997700" y="1825625"/>
            <a:ext cx="4356100" cy="3136900"/>
          </a:xfr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D55E082F-906C-CCA3-93C9-133DA0577165}"/>
              </a:ext>
            </a:extLst>
          </p:cNvPr>
          <p:cNvSpPr/>
          <p:nvPr/>
        </p:nvSpPr>
        <p:spPr>
          <a:xfrm>
            <a:off x="6741041" y="2155751"/>
            <a:ext cx="3981315" cy="1738423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32FE022-E5B1-57C7-0864-9C3B7DBF64B0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61595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Once the R project is set up, go to </a:t>
            </a:r>
            <a:r>
              <a:rPr lang="en-GB" b="1"/>
              <a:t>Moodle &gt;&gt; Tutorials &gt;&gt; Data for Tutorials.</a:t>
            </a:r>
          </a:p>
          <a:p>
            <a:r>
              <a:rPr lang="en-GB"/>
              <a:t>Download the </a:t>
            </a:r>
            <a:r>
              <a:rPr lang="en-GB" err="1"/>
              <a:t>AirBnB</a:t>
            </a:r>
            <a:r>
              <a:rPr lang="en-GB"/>
              <a:t> dataset and transfer the file to your R Project folder.</a:t>
            </a:r>
          </a:p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6FFDA61-78AA-6BCF-C106-A273831C0FBE}"/>
              </a:ext>
            </a:extLst>
          </p:cNvPr>
          <p:cNvSpPr/>
          <p:nvPr/>
        </p:nvSpPr>
        <p:spPr>
          <a:xfrm>
            <a:off x="7581014" y="2640696"/>
            <a:ext cx="1956391" cy="25136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23856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C7634-55FA-0541-D813-6C02E3E44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R Markdown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831CA8-D36D-F685-7035-DE213448D8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3000"/>
              <a:t>What is R Markdown?</a:t>
            </a:r>
          </a:p>
          <a:p>
            <a:pPr lvl="1"/>
            <a:r>
              <a:rPr lang="en-GB" sz="2600"/>
              <a:t>A document format that lets you combine </a:t>
            </a:r>
            <a:r>
              <a:rPr lang="en-GB" sz="2600" b="1"/>
              <a:t>text</a:t>
            </a:r>
            <a:r>
              <a:rPr lang="en-GB" sz="2600"/>
              <a:t>, </a:t>
            </a:r>
            <a:r>
              <a:rPr lang="en-GB" sz="2600" b="1"/>
              <a:t>code</a:t>
            </a:r>
            <a:r>
              <a:rPr lang="en-GB" sz="2600"/>
              <a:t>, and </a:t>
            </a:r>
            <a:r>
              <a:rPr lang="en-GB" sz="2600" b="1"/>
              <a:t>results (output)</a:t>
            </a:r>
            <a:r>
              <a:rPr lang="en-GB" sz="2600"/>
              <a:t> in one place.</a:t>
            </a:r>
          </a:p>
          <a:p>
            <a:pPr lvl="1"/>
            <a:r>
              <a:rPr lang="en-GB" sz="2600"/>
              <a:t>Perfect for reports, assignments, and reproducible analysis.</a:t>
            </a:r>
          </a:p>
          <a:p>
            <a:endParaRPr lang="en-GB" sz="3000"/>
          </a:p>
        </p:txBody>
      </p:sp>
    </p:spTree>
    <p:extLst>
      <p:ext uri="{BB962C8B-B14F-4D97-AF65-F5344CB8AC3E}">
        <p14:creationId xmlns:p14="http://schemas.microsoft.com/office/powerpoint/2010/main" val="12876351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05B1E-E470-798B-7DB8-0ABD79793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Open an R Markdown document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5B58E05E-0AED-84D3-F71D-18D89C3AC3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9125" y="1624124"/>
            <a:ext cx="7823200" cy="2171700"/>
          </a:xfr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970A5001-092B-3E1A-D2CF-8670286D3AA2}"/>
              </a:ext>
            </a:extLst>
          </p:cNvPr>
          <p:cNvSpPr/>
          <p:nvPr/>
        </p:nvSpPr>
        <p:spPr>
          <a:xfrm>
            <a:off x="5559055" y="3051544"/>
            <a:ext cx="1860699" cy="377456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Bent Up Arrow 12">
            <a:extLst>
              <a:ext uri="{FF2B5EF4-FFF2-40B4-BE49-F238E27FC236}">
                <a16:creationId xmlns:a16="http://schemas.microsoft.com/office/drawing/2014/main" id="{50E9152B-8AF1-A9F4-B712-CE9EE8EB4337}"/>
              </a:ext>
            </a:extLst>
          </p:cNvPr>
          <p:cNvSpPr/>
          <p:nvPr/>
        </p:nvSpPr>
        <p:spPr>
          <a:xfrm rot="5400000">
            <a:off x="6791583" y="4713734"/>
            <a:ext cx="1708223" cy="451884"/>
          </a:xfrm>
          <a:prstGeom prst="bentUpArrow">
            <a:avLst>
              <a:gd name="adj1" fmla="val 10148"/>
              <a:gd name="adj2" fmla="val 25000"/>
              <a:gd name="adj3" fmla="val 25000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13FDAB-5D97-A80A-968E-4BBE47EFA29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9380"/>
          <a:stretch>
            <a:fillRect/>
          </a:stretch>
        </p:blipFill>
        <p:spPr>
          <a:xfrm>
            <a:off x="8019465" y="4663228"/>
            <a:ext cx="4021168" cy="1708224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24E894A4-E9DA-A707-F73F-C1BED28D9A0B}"/>
              </a:ext>
            </a:extLst>
          </p:cNvPr>
          <p:cNvSpPr/>
          <p:nvPr/>
        </p:nvSpPr>
        <p:spPr>
          <a:xfrm>
            <a:off x="8124415" y="5233876"/>
            <a:ext cx="1905634" cy="902117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BB4D99-47A6-A5F7-A4ED-4C8078ECA113}"/>
              </a:ext>
            </a:extLst>
          </p:cNvPr>
          <p:cNvSpPr txBox="1"/>
          <p:nvPr/>
        </p:nvSpPr>
        <p:spPr>
          <a:xfrm>
            <a:off x="605457" y="5874383"/>
            <a:ext cx="71341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/>
              <a:t>In R Studio: </a:t>
            </a:r>
            <a:r>
              <a:rPr lang="en-GB" sz="2800" b="1"/>
              <a:t>File -&gt; New File -&gt; R Markdown</a:t>
            </a:r>
          </a:p>
        </p:txBody>
      </p:sp>
    </p:spTree>
    <p:extLst>
      <p:ext uri="{BB962C8B-B14F-4D97-AF65-F5344CB8AC3E}">
        <p14:creationId xmlns:p14="http://schemas.microsoft.com/office/powerpoint/2010/main" val="2488978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D9DFD-D74A-36C8-7703-B968D546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R Markdown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A922AD-D7F5-E103-7902-22422C144C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393" y="1564815"/>
            <a:ext cx="10705214" cy="52931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4DEE7F-A7E8-1784-22AF-F59A79C7E571}"/>
              </a:ext>
            </a:extLst>
          </p:cNvPr>
          <p:cNvSpPr txBox="1"/>
          <p:nvPr/>
        </p:nvSpPr>
        <p:spPr>
          <a:xfrm>
            <a:off x="3312042" y="3059668"/>
            <a:ext cx="43806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>
                <a:solidFill>
                  <a:srgbClr val="FF0000"/>
                </a:solidFill>
              </a:rPr>
              <a:t>YAML header</a:t>
            </a:r>
            <a:r>
              <a:rPr lang="en-GB">
                <a:solidFill>
                  <a:srgbClr val="FF0000"/>
                </a:solidFill>
              </a:rPr>
              <a:t>  (document settings)</a:t>
            </a:r>
          </a:p>
        </p:txBody>
      </p:sp>
    </p:spTree>
    <p:extLst>
      <p:ext uri="{BB962C8B-B14F-4D97-AF65-F5344CB8AC3E}">
        <p14:creationId xmlns:p14="http://schemas.microsoft.com/office/powerpoint/2010/main" val="10419236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E1A71-9007-FC0A-A05C-F9E2EF62C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2F42D-B7D5-71C6-5CD5-16C68E496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R Markdown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134182-E258-5BA1-7336-698C338AFA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393" y="1564815"/>
            <a:ext cx="10705214" cy="52931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B53AB80-0EB9-7648-B2CA-A7D472582F75}"/>
              </a:ext>
            </a:extLst>
          </p:cNvPr>
          <p:cNvSpPr txBox="1"/>
          <p:nvPr/>
        </p:nvSpPr>
        <p:spPr>
          <a:xfrm>
            <a:off x="4641112" y="3986030"/>
            <a:ext cx="2434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>
                <a:solidFill>
                  <a:srgbClr val="FF0000"/>
                </a:solidFill>
              </a:rPr>
              <a:t>Chunks of R code</a:t>
            </a:r>
            <a:endParaRPr lang="en-GB">
              <a:solidFill>
                <a:srgbClr val="FF000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7B794B9-35C9-EE6D-D64B-827A516D7A70}"/>
              </a:ext>
            </a:extLst>
          </p:cNvPr>
          <p:cNvSpPr/>
          <p:nvPr/>
        </p:nvSpPr>
        <p:spPr>
          <a:xfrm>
            <a:off x="8899451" y="2275367"/>
            <a:ext cx="744279" cy="48197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437138-85ED-1307-70BF-E7B4584DEDE3}"/>
              </a:ext>
            </a:extLst>
          </p:cNvPr>
          <p:cNvSpPr txBox="1"/>
          <p:nvPr/>
        </p:nvSpPr>
        <p:spPr>
          <a:xfrm>
            <a:off x="7472917" y="5882170"/>
            <a:ext cx="24348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>
                <a:solidFill>
                  <a:srgbClr val="FF0000"/>
                </a:solidFill>
              </a:rPr>
              <a:t>In code chunks, use # to write comments.</a:t>
            </a:r>
            <a:endParaRPr lang="en-GB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32538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07481-EC5C-FF60-A24F-45806EFBB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51DD8-7EBC-D1FA-F063-74C966480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R Markdown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D7B8AC-BE1D-6C5C-B80C-D376BA244F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393" y="1564815"/>
            <a:ext cx="10705214" cy="52931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26CD7C6-43D6-D21E-2C97-B6348306C4EF}"/>
              </a:ext>
            </a:extLst>
          </p:cNvPr>
          <p:cNvSpPr txBox="1"/>
          <p:nvPr/>
        </p:nvSpPr>
        <p:spPr>
          <a:xfrm>
            <a:off x="4641112" y="3986030"/>
            <a:ext cx="2434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>
                <a:solidFill>
                  <a:srgbClr val="FF0000"/>
                </a:solidFill>
              </a:rPr>
              <a:t>Chunks of R code</a:t>
            </a:r>
            <a:endParaRPr lang="en-GB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8D64CC-D3B4-23BA-A047-A59EC09CB53C}"/>
              </a:ext>
            </a:extLst>
          </p:cNvPr>
          <p:cNvSpPr txBox="1"/>
          <p:nvPr/>
        </p:nvSpPr>
        <p:spPr>
          <a:xfrm>
            <a:off x="7472917" y="5882170"/>
            <a:ext cx="24348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>
                <a:solidFill>
                  <a:srgbClr val="FF0000"/>
                </a:solidFill>
              </a:rPr>
              <a:t>In code chunks, use # to write comments.</a:t>
            </a:r>
            <a:endParaRPr lang="en-GB">
              <a:solidFill>
                <a:srgbClr val="FF000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93AFFE2-1639-D41F-7520-E70A7C27D5EC}"/>
              </a:ext>
            </a:extLst>
          </p:cNvPr>
          <p:cNvSpPr/>
          <p:nvPr/>
        </p:nvSpPr>
        <p:spPr>
          <a:xfrm>
            <a:off x="10609521" y="3551383"/>
            <a:ext cx="744279" cy="48197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40188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FA02A-B562-42D3-0B18-9AB1DC73D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DB0EC-EBCC-BC15-4663-4D5B11358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R Markdown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0130A1-CADA-7469-FB46-74E73EC9EC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393" y="1564815"/>
            <a:ext cx="10705214" cy="529318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260F9A6-F146-E4D4-1BFC-44F2805977C5}"/>
              </a:ext>
            </a:extLst>
          </p:cNvPr>
          <p:cNvSpPr txBox="1"/>
          <p:nvPr/>
        </p:nvSpPr>
        <p:spPr>
          <a:xfrm>
            <a:off x="7075968" y="4797980"/>
            <a:ext cx="2936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>
                <a:solidFill>
                  <a:srgbClr val="FF0000"/>
                </a:solidFill>
              </a:rPr>
              <a:t>White area for plain text.</a:t>
            </a:r>
            <a:endParaRPr lang="en-GB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21181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1CCE1-D60F-6FBB-EC2F-048E03F7D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R Markdown cheatsheet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59D629-642E-AE49-3575-1E0CEB8F47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In your search engine type </a:t>
            </a:r>
            <a:r>
              <a:rPr lang="en-GB" b="1"/>
              <a:t>“r markdown </a:t>
            </a:r>
            <a:r>
              <a:rPr lang="en-GB" b="1" err="1"/>
              <a:t>cheatsheet</a:t>
            </a:r>
            <a:r>
              <a:rPr lang="en-GB" b="1"/>
              <a:t> pdf” </a:t>
            </a:r>
            <a:r>
              <a:rPr lang="en-GB"/>
              <a:t>which should take you to the following pdf document:</a:t>
            </a:r>
          </a:p>
          <a:p>
            <a:pPr marL="0" indent="0">
              <a:buNone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66838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55FB02C-9FFC-D054-AD74-0C1D0AE272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52368" y="67270"/>
            <a:ext cx="8788003" cy="6790730"/>
          </a:xfrm>
        </p:spPr>
      </p:pic>
    </p:spTree>
    <p:extLst>
      <p:ext uri="{BB962C8B-B14F-4D97-AF65-F5344CB8AC3E}">
        <p14:creationId xmlns:p14="http://schemas.microsoft.com/office/powerpoint/2010/main" val="35054127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171EE-2D64-A423-4A05-765D3C974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Part 1 – Tutorial exercises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28FFDF-D082-C54A-9894-43C7EA3DE5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57614" cy="4351338"/>
          </a:xfrm>
        </p:spPr>
        <p:txBody>
          <a:bodyPr>
            <a:normAutofit lnSpcReduction="10000"/>
          </a:bodyPr>
          <a:lstStyle/>
          <a:p>
            <a:r>
              <a:rPr lang="en-GB" sz="2400"/>
              <a:t>Install the package “</a:t>
            </a:r>
            <a:r>
              <a:rPr lang="en-GB" sz="2400" err="1"/>
              <a:t>tidyverse</a:t>
            </a:r>
            <a:r>
              <a:rPr lang="en-GB" sz="2400"/>
              <a:t>” (use the console for this).</a:t>
            </a:r>
          </a:p>
          <a:p>
            <a:r>
              <a:rPr lang="en-GB" sz="2400"/>
              <a:t>Load the “</a:t>
            </a:r>
            <a:r>
              <a:rPr lang="en-GB" sz="2400" err="1"/>
              <a:t>tidyverse</a:t>
            </a:r>
            <a:r>
              <a:rPr lang="en-GB" sz="2400"/>
              <a:t>” package using </a:t>
            </a:r>
            <a:r>
              <a:rPr lang="en-GB" sz="2400" b="1"/>
              <a:t>library(</a:t>
            </a:r>
            <a:r>
              <a:rPr lang="en-GB" sz="2400" b="1" err="1"/>
              <a:t>tidyverse</a:t>
            </a:r>
            <a:r>
              <a:rPr lang="en-GB" sz="2400" b="1"/>
              <a:t>) – do this in the markdown.</a:t>
            </a:r>
          </a:p>
          <a:p>
            <a:r>
              <a:rPr lang="en-GB" sz="2400"/>
              <a:t>Assign the </a:t>
            </a:r>
            <a:r>
              <a:rPr lang="en-GB" sz="2400" err="1"/>
              <a:t>AirBnB</a:t>
            </a:r>
            <a:r>
              <a:rPr lang="en-GB" sz="2400"/>
              <a:t> data to an object and read it in using the </a:t>
            </a:r>
            <a:r>
              <a:rPr lang="en-GB" sz="2400" i="1" err="1"/>
              <a:t>read_csv</a:t>
            </a:r>
            <a:r>
              <a:rPr lang="en-GB" sz="2400" i="1"/>
              <a:t>()</a:t>
            </a:r>
            <a:r>
              <a:rPr lang="en-GB" sz="2400"/>
              <a:t> function. </a:t>
            </a:r>
            <a:r>
              <a:rPr lang="en-GB" sz="2400" i="1"/>
              <a:t>In the brackets, type in the name of the object to which you assigned the data.</a:t>
            </a:r>
          </a:p>
          <a:p>
            <a:r>
              <a:rPr lang="en-GB" sz="2400"/>
              <a:t>Examine the data using </a:t>
            </a:r>
            <a:r>
              <a:rPr lang="en-GB" sz="2400" b="1"/>
              <a:t>glimpse(). </a:t>
            </a:r>
            <a:r>
              <a:rPr lang="en-GB" sz="2400"/>
              <a:t>What’s in the rows and what is in the columns?</a:t>
            </a:r>
          </a:p>
          <a:p>
            <a:r>
              <a:rPr lang="en-GB" sz="2400"/>
              <a:t>Convert the </a:t>
            </a:r>
            <a:r>
              <a:rPr lang="en-GB" sz="2400" err="1"/>
              <a:t>room_type</a:t>
            </a:r>
            <a:r>
              <a:rPr lang="en-GB" sz="2400"/>
              <a:t> variable into a factor variable – use the </a:t>
            </a:r>
            <a:r>
              <a:rPr lang="en-GB" sz="2400" b="1"/>
              <a:t>mutate</a:t>
            </a:r>
            <a:r>
              <a:rPr lang="en-GB" sz="2400"/>
              <a:t> function. Why do we do this?</a:t>
            </a:r>
          </a:p>
          <a:p>
            <a:r>
              <a:rPr lang="en-GB" sz="2400"/>
              <a:t>Check the levels of the variable using </a:t>
            </a:r>
            <a:r>
              <a:rPr lang="en-GB" sz="2400" b="1"/>
              <a:t>levels() </a:t>
            </a:r>
            <a:r>
              <a:rPr lang="en-GB" sz="2400"/>
              <a:t>function. </a:t>
            </a:r>
          </a:p>
          <a:p>
            <a:r>
              <a:rPr lang="en-GB" sz="2400"/>
              <a:t>Create a frequency table using using </a:t>
            </a:r>
            <a:r>
              <a:rPr lang="en-GB" sz="2400" b="1"/>
              <a:t>table()</a:t>
            </a:r>
            <a:r>
              <a:rPr lang="en-GB" sz="2400"/>
              <a:t> function.</a:t>
            </a:r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04631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E010F-DA19-2F87-18CD-5E7DAF307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Part 2 – Working towards your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1D25C-8FBA-3C6E-2AB2-EF8C874DA0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In pairs:</a:t>
            </a:r>
          </a:p>
          <a:p>
            <a:pPr lvl="1"/>
            <a:r>
              <a:rPr lang="en-GB"/>
              <a:t>Define a research question – something that interests you, aligns with your PhD/Masters research and can be answered empirically. </a:t>
            </a:r>
          </a:p>
          <a:p>
            <a:pPr lvl="1"/>
            <a:r>
              <a:rPr lang="en-GB"/>
              <a:t>Identify a </a:t>
            </a:r>
            <a:r>
              <a:rPr lang="en-GB" b="1">
                <a:solidFill>
                  <a:srgbClr val="FF0000"/>
                </a:solidFill>
              </a:rPr>
              <a:t>numeric (continuous) </a:t>
            </a:r>
            <a:r>
              <a:rPr lang="en-GB"/>
              <a:t>dependent variable (DV).</a:t>
            </a:r>
          </a:p>
          <a:p>
            <a:pPr lvl="1"/>
            <a:r>
              <a:rPr lang="en-GB"/>
              <a:t>Identify suitable independent variables (including control variables).</a:t>
            </a:r>
          </a:p>
          <a:p>
            <a:r>
              <a:rPr lang="en-GB"/>
              <a:t>If any of the terminology is unclear, discuss with your peers/tutor.</a:t>
            </a:r>
          </a:p>
          <a:p>
            <a:pPr lvl="1"/>
            <a:endParaRPr lang="en-GB"/>
          </a:p>
          <a:p>
            <a:endParaRPr lang="en-GB"/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73522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819</Words>
  <Application>Microsoft Macintosh PowerPoint</Application>
  <PresentationFormat>Widescreen</PresentationFormat>
  <Paragraphs>98</Paragraphs>
  <Slides>24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Aptos</vt:lpstr>
      <vt:lpstr>Aptos </vt:lpstr>
      <vt:lpstr>Aptos Display</vt:lpstr>
      <vt:lpstr>Arial</vt:lpstr>
      <vt:lpstr>Office Theme</vt:lpstr>
      <vt:lpstr>Quantitative Data Analysis   Lab 1</vt:lpstr>
      <vt:lpstr>Tutor contact details</vt:lpstr>
      <vt:lpstr>Labs (suggested) structure</vt:lpstr>
      <vt:lpstr>Part 1 </vt:lpstr>
      <vt:lpstr>Part 1 - Tutorial exercises</vt:lpstr>
      <vt:lpstr>Part 2 – Working towards your project</vt:lpstr>
      <vt:lpstr>Questions?</vt:lpstr>
      <vt:lpstr>Lab 1 – Part 1</vt:lpstr>
      <vt:lpstr>Setting up an R project</vt:lpstr>
      <vt:lpstr>Setting up an R project</vt:lpstr>
      <vt:lpstr>Setting up an R project</vt:lpstr>
      <vt:lpstr>Setting up an R project</vt:lpstr>
      <vt:lpstr>Setting up an R project</vt:lpstr>
      <vt:lpstr>Download the AirBnB data from Moodle</vt:lpstr>
      <vt:lpstr>R Markdown</vt:lpstr>
      <vt:lpstr>Open an R Markdown document</vt:lpstr>
      <vt:lpstr>R Markdown</vt:lpstr>
      <vt:lpstr>R Markdown</vt:lpstr>
      <vt:lpstr>R Markdown</vt:lpstr>
      <vt:lpstr>R Markdown</vt:lpstr>
      <vt:lpstr>R Markdown cheatsheet</vt:lpstr>
      <vt:lpstr>PowerPoint Presentation</vt:lpstr>
      <vt:lpstr>Part 1 – Tutorial exercises</vt:lpstr>
      <vt:lpstr>Part 2 – Working towards your project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Plamena Panayotova</dc:creator>
  <cp:lastModifiedBy>Plamena Panayotova</cp:lastModifiedBy>
  <cp:revision>1</cp:revision>
  <dcterms:created xsi:type="dcterms:W3CDTF">2025-01-20T08:51:45Z</dcterms:created>
  <dcterms:modified xsi:type="dcterms:W3CDTF">2026-10-02T07:25:13Z</dcterms:modified>
</cp:coreProperties>
</file>