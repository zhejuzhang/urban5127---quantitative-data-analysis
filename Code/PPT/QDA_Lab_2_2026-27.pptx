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60" r:id="rId3"/>
    <p:sldId id="266" r:id="rId4"/>
    <p:sldId id="259" r:id="rId5"/>
    <p:sldId id="267" r:id="rId6"/>
    <p:sldId id="265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FE72E6-E8BF-C741-9FB6-E25B07A42083}" v="1" dt="2026-10-09T08:12:27.7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08"/>
    <p:restoredTop sz="96266"/>
  </p:normalViewPr>
  <p:slideViewPr>
    <p:cSldViewPr snapToGrid="0">
      <p:cViewPr varScale="1">
        <p:scale>
          <a:sx n="126" d="100"/>
          <a:sy n="126" d="100"/>
        </p:scale>
        <p:origin x="64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lamena Panayotova" userId="0e4e7a80-cc93-4086-98be-274018ec777b" providerId="ADAL" clId="{D33EA055-4D34-54EF-AA2F-1C87B5DC0C0A}"/>
    <pc:docChg chg="custSel modSld">
      <pc:chgData name="Plamena Panayotova" userId="0e4e7a80-cc93-4086-98be-274018ec777b" providerId="ADAL" clId="{D33EA055-4D34-54EF-AA2F-1C87B5DC0C0A}" dt="2026-10-09T08:13:14.019" v="176" actId="207"/>
      <pc:docMkLst>
        <pc:docMk/>
      </pc:docMkLst>
      <pc:sldChg chg="modSp mod">
        <pc:chgData name="Plamena Panayotova" userId="0e4e7a80-cc93-4086-98be-274018ec777b" providerId="ADAL" clId="{D33EA055-4D34-54EF-AA2F-1C87B5DC0C0A}" dt="2026-10-09T07:54:31.249" v="93" actId="20577"/>
        <pc:sldMkLst>
          <pc:docMk/>
          <pc:sldMk cId="2090249170" sldId="256"/>
        </pc:sldMkLst>
        <pc:spChg chg="mod">
          <ac:chgData name="Plamena Panayotova" userId="0e4e7a80-cc93-4086-98be-274018ec777b" providerId="ADAL" clId="{D33EA055-4D34-54EF-AA2F-1C87B5DC0C0A}" dt="2026-10-09T07:54:31.249" v="93" actId="20577"/>
          <ac:spMkLst>
            <pc:docMk/>
            <pc:sldMk cId="2090249170" sldId="256"/>
            <ac:spMk id="3" creationId="{D128E165-0D28-C917-B417-D04DCAE8CEC7}"/>
          </ac:spMkLst>
        </pc:spChg>
      </pc:sldChg>
      <pc:sldChg chg="modSp mod">
        <pc:chgData name="Plamena Panayotova" userId="0e4e7a80-cc93-4086-98be-274018ec777b" providerId="ADAL" clId="{D33EA055-4D34-54EF-AA2F-1C87B5DC0C0A}" dt="2026-10-09T08:12:51.712" v="173" actId="113"/>
        <pc:sldMkLst>
          <pc:docMk/>
          <pc:sldMk cId="1825893546" sldId="259"/>
        </pc:sldMkLst>
        <pc:spChg chg="mod">
          <ac:chgData name="Plamena Panayotova" userId="0e4e7a80-cc93-4086-98be-274018ec777b" providerId="ADAL" clId="{D33EA055-4D34-54EF-AA2F-1C87B5DC0C0A}" dt="2026-10-09T08:12:51.712" v="173" actId="113"/>
          <ac:spMkLst>
            <pc:docMk/>
            <pc:sldMk cId="1825893546" sldId="259"/>
            <ac:spMk id="3" creationId="{8692A454-1126-21DA-5EFC-32C20DF06F5C}"/>
          </ac:spMkLst>
        </pc:spChg>
      </pc:sldChg>
      <pc:sldChg chg="modSp mod">
        <pc:chgData name="Plamena Panayotova" userId="0e4e7a80-cc93-4086-98be-274018ec777b" providerId="ADAL" clId="{D33EA055-4D34-54EF-AA2F-1C87B5DC0C0A}" dt="2026-10-09T08:13:14.019" v="176" actId="207"/>
        <pc:sldMkLst>
          <pc:docMk/>
          <pc:sldMk cId="2775474664" sldId="260"/>
        </pc:sldMkLst>
        <pc:spChg chg="mod">
          <ac:chgData name="Plamena Panayotova" userId="0e4e7a80-cc93-4086-98be-274018ec777b" providerId="ADAL" clId="{D33EA055-4D34-54EF-AA2F-1C87B5DC0C0A}" dt="2026-10-09T08:13:14.019" v="176" actId="207"/>
          <ac:spMkLst>
            <pc:docMk/>
            <pc:sldMk cId="2775474664" sldId="260"/>
            <ac:spMk id="3" creationId="{4F8818F0-8D4D-CD71-E78F-7FC3EB0C9F3A}"/>
          </ac:spMkLst>
        </pc:spChg>
      </pc:sldChg>
      <pc:sldChg chg="modSp mod">
        <pc:chgData name="Plamena Panayotova" userId="0e4e7a80-cc93-4086-98be-274018ec777b" providerId="ADAL" clId="{D33EA055-4D34-54EF-AA2F-1C87B5DC0C0A}" dt="2026-10-09T08:13:00.138" v="174" actId="207"/>
        <pc:sldMkLst>
          <pc:docMk/>
          <pc:sldMk cId="4007352210" sldId="265"/>
        </pc:sldMkLst>
        <pc:spChg chg="mod">
          <ac:chgData name="Plamena Panayotova" userId="0e4e7a80-cc93-4086-98be-274018ec777b" providerId="ADAL" clId="{D33EA055-4D34-54EF-AA2F-1C87B5DC0C0A}" dt="2026-10-09T08:13:00.138" v="174" actId="207"/>
          <ac:spMkLst>
            <pc:docMk/>
            <pc:sldMk cId="4007352210" sldId="265"/>
            <ac:spMk id="3" creationId="{28B1D25C-8FBA-3C6E-2AB2-EF8C874DA03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B50A30-ECFC-F642-A0F9-5AB7D4D0E294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3C9530-74AC-484B-9FA1-E147B24CC8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35699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AAF37F-1CBD-B94D-9FAA-F4E598D597A5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10853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DC81D-D102-5CCC-8C5A-0FD3586FB9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53CA78-5F19-281F-6A77-1EF415DC9A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374A41-1B55-0963-6050-23086F866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D4CF3-2B07-B044-AC69-B29CFED18CC9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ABC172-E8F8-1017-9B57-9AC260522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EB2294-CD34-722A-EF92-EE0395471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93F85-2036-8D42-A980-F7549A6DCC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8702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C3880-9A69-E689-6143-2751F041D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CADE9-CE4D-6328-F865-72D15D9316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3CD6DC-422B-2B1D-D174-03589069B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D4CF3-2B07-B044-AC69-B29CFED18CC9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3ADE1-D76F-0A78-8901-BB7463CB5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81CA5B-BC89-3CA1-E19A-962199091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93F85-2036-8D42-A980-F7549A6DCC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4721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44F3E-166F-2C0E-2653-D746B035D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85C289-829D-9221-D058-94BBA0184C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502E00-234F-A74B-31AC-D5A220D62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D4CF3-2B07-B044-AC69-B29CFED18CC9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EBD68-CE18-1014-52CE-364E8DA05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D4829-174C-2D5E-D4DF-3A020ADD1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93F85-2036-8D42-A980-F7549A6DCC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4100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A7424-7CC0-2700-9CEF-DA8E3F207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977F5A-1DBC-74E1-0426-DAEBEB4417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F3B01A-2086-6E64-3F7A-ECCC362AAC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E75EDE-EE80-705E-28CC-023A6BC13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D4CF3-2B07-B044-AC69-B29CFED18CC9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73A02E-F13D-247F-9B33-3CE55410F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686C71-E1C1-8907-5F3C-4190E8BA5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93F85-2036-8D42-A980-F7549A6DCC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1138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69928-54E8-CB55-31CF-244CB6950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D08FD-AA0E-C06D-505B-41A75F116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35B800-729F-8901-FAD6-14DFFBE22F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86D99A-3DBF-77D3-C147-AA27389321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85FF1A-79B5-71FE-EC78-A5B85F8442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D9CF8F-962A-CCC3-E9B5-F9C54CF7C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D4CF3-2B07-B044-AC69-B29CFED18CC9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103DCD-F476-E12F-96C7-7779B987E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22FFFD-3E8E-CC93-66CB-9E3542B4E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93F85-2036-8D42-A980-F7549A6DCC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0887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3AA4A-D90A-B937-7C95-53301FCBC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649DDF-C0C8-F3C0-55D4-ACA6E4129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D4CF3-2B07-B044-AC69-B29CFED18CC9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A5D17D-4AC4-B77F-CE04-A40F7D68B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CAB849-32FE-ACA5-9435-55626AB2D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93F85-2036-8D42-A980-F7549A6DCC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8016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C4B4D9-FB36-2B16-52CC-65F08B4A2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D4CF3-2B07-B044-AC69-B29CFED18CC9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95C5CC-8C00-61AD-DC1C-720974726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B9621E-785E-A292-01EE-8D48DFD93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93F85-2036-8D42-A980-F7549A6DCC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3137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6F1B0-D969-C67E-071C-33AD3104F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2AB57A-F5D5-3EAA-8F5C-3972F0732A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94024A-B199-959A-28A5-AF06E23C0C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317045-1593-ADF6-DD3C-31DA50EC8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D4CF3-2B07-B044-AC69-B29CFED18CC9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27B4E2-948C-8C64-0F15-CAF5F4A42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2025CE-FD92-51D4-AA60-2A62EC969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93F85-2036-8D42-A980-F7549A6DCC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5937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0F713-79A2-DDDD-DB1F-C31B90A95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492FCC-A456-0CB0-F125-DE281F2762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54C859-A456-6ED5-99FE-9DEA479BA1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B27C94-4EC3-269F-4545-56A30544B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D4CF3-2B07-B044-AC69-B29CFED18CC9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99CD2C-DF0E-F0F4-4580-BB7D7863A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5D8B6D-42E6-BA8C-DEEE-07499C4F6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93F85-2036-8D42-A980-F7549A6DCC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4038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9E56-6618-E15D-076E-3EBA4E6A9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36A3F6-3349-5A9B-B5A5-7336BD4A66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4AF1B7-8139-8598-3249-325639AEA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D4CF3-2B07-B044-AC69-B29CFED18CC9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3CE30F-CD72-27E1-4E93-FC2B4E361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6CB29-38F0-FEF7-6598-C30B154B5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93F85-2036-8D42-A980-F7549A6DCC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22054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E6C1A5-FC07-7D2A-74C7-050537B25C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A9BC99-6363-C195-DBC7-8F67CDD90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B877FB-5A99-6C7B-E3EC-4B15F4B00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D4CF3-2B07-B044-AC69-B29CFED18CC9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F33A51-A03D-3808-B425-F5F438AF5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6236F6-4370-A180-70CD-8F1836E52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93F85-2036-8D42-A980-F7549A6DCC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055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BA29A2-24B4-5315-D249-9264FAC9C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D8A496-D926-1850-5B59-54AB530D17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7199A2-DBF2-BE0D-B91B-CDAE0436FC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9D4CF3-2B07-B044-AC69-B29CFED18CC9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3A2C68-C479-1790-9C24-236C670FAF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3E5254-6DE1-31B8-E38C-75DCF527C5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193F85-2036-8D42-A980-F7549A6DCC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7177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BB06A-C599-0ED0-9189-7A04CE3B17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43362"/>
            <a:ext cx="9144000" cy="2387600"/>
          </a:xfrm>
        </p:spPr>
        <p:txBody>
          <a:bodyPr/>
          <a:lstStyle/>
          <a:p>
            <a:r>
              <a:rPr lang="en-GB" dirty="0"/>
              <a:t>Quantitative Data Analysis Lab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28E165-0D28-C917-B417-D04DCAE8CE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23037"/>
            <a:ext cx="9144000" cy="1655762"/>
          </a:xfrm>
        </p:spPr>
        <p:txBody>
          <a:bodyPr>
            <a:normAutofit/>
          </a:bodyPr>
          <a:lstStyle/>
          <a:p>
            <a:r>
              <a:rPr lang="en-GB" sz="4000" dirty="0"/>
              <a:t>9/10/2026</a:t>
            </a:r>
          </a:p>
        </p:txBody>
      </p:sp>
    </p:spTree>
    <p:extLst>
      <p:ext uri="{BB962C8B-B14F-4D97-AF65-F5344CB8AC3E}">
        <p14:creationId xmlns:p14="http://schemas.microsoft.com/office/powerpoint/2010/main" val="2090249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F8574-8B22-CF61-B96D-95AA13BC5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Checklist!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818F0-8D4D-CD71-E78F-7FC3EB0C9F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ü"/>
            </a:pPr>
            <a:r>
              <a:rPr lang="en-GB" dirty="0"/>
              <a:t>Have you </a:t>
            </a:r>
            <a:r>
              <a:rPr lang="en-GB" b="1" dirty="0"/>
              <a:t>set up an R project </a:t>
            </a:r>
            <a:r>
              <a:rPr lang="en-GB" dirty="0"/>
              <a:t>and do you know where to find it?</a:t>
            </a:r>
          </a:p>
          <a:p>
            <a:pPr>
              <a:buFont typeface="Wingdings" pitchFamily="2" charset="2"/>
              <a:buChar char="ü"/>
            </a:pPr>
            <a:r>
              <a:rPr lang="en-GB" dirty="0"/>
              <a:t>Have you </a:t>
            </a:r>
            <a:r>
              <a:rPr lang="en-GB" b="1" dirty="0"/>
              <a:t>downloaded the </a:t>
            </a:r>
            <a:r>
              <a:rPr lang="en-GB" b="1" dirty="0" err="1"/>
              <a:t>AirBnB</a:t>
            </a:r>
            <a:r>
              <a:rPr lang="en-GB" b="1" dirty="0"/>
              <a:t> data </a:t>
            </a:r>
            <a:r>
              <a:rPr lang="en-GB" dirty="0"/>
              <a:t>and </a:t>
            </a:r>
            <a:r>
              <a:rPr lang="en-GB" b="1" dirty="0"/>
              <a:t>added it to the R project folder</a:t>
            </a:r>
            <a:r>
              <a:rPr lang="en-GB" dirty="0"/>
              <a:t>?</a:t>
            </a:r>
          </a:p>
          <a:p>
            <a:pPr>
              <a:buFont typeface="Wingdings" pitchFamily="2" charset="2"/>
              <a:buChar char="ü"/>
            </a:pPr>
            <a:r>
              <a:rPr lang="en-GB" dirty="0"/>
              <a:t>Have you </a:t>
            </a:r>
            <a:r>
              <a:rPr lang="en-GB" b="1" dirty="0"/>
              <a:t>opened an R Markdown document </a:t>
            </a:r>
            <a:r>
              <a:rPr lang="en-GB" dirty="0"/>
              <a:t>and </a:t>
            </a:r>
            <a:r>
              <a:rPr lang="en-GB" b="1" dirty="0"/>
              <a:t>completed all exercises </a:t>
            </a:r>
            <a:r>
              <a:rPr lang="en-GB" dirty="0"/>
              <a:t>from Lab 1?</a:t>
            </a:r>
          </a:p>
          <a:p>
            <a:pPr>
              <a:buFont typeface="Wingdings" pitchFamily="2" charset="2"/>
              <a:buChar char="ü"/>
            </a:pPr>
            <a:r>
              <a:rPr lang="en-GB" dirty="0"/>
              <a:t>Do you understand </a:t>
            </a:r>
            <a:r>
              <a:rPr lang="en-GB" b="1" i="1" dirty="0">
                <a:solidFill>
                  <a:srgbClr val="C00000"/>
                </a:solidFill>
              </a:rPr>
              <a:t>how</a:t>
            </a:r>
            <a:r>
              <a:rPr lang="en-GB" dirty="0">
                <a:solidFill>
                  <a:srgbClr val="C00000"/>
                </a:solidFill>
              </a:rPr>
              <a:t> </a:t>
            </a:r>
            <a:r>
              <a:rPr lang="en-GB" b="1" dirty="0">
                <a:solidFill>
                  <a:srgbClr val="C00000"/>
                </a:solidFill>
              </a:rPr>
              <a:t>the code works</a:t>
            </a:r>
            <a:r>
              <a:rPr lang="en-GB" dirty="0"/>
              <a:t>? If there are any outstanding questions, now’s the time to ask!</a:t>
            </a:r>
          </a:p>
        </p:txBody>
      </p:sp>
    </p:spTree>
    <p:extLst>
      <p:ext uri="{BB962C8B-B14F-4D97-AF65-F5344CB8AC3E}">
        <p14:creationId xmlns:p14="http://schemas.microsoft.com/office/powerpoint/2010/main" val="2775474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0FC05-8C83-F4BA-1D73-841230E03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C67926-8BE1-9D08-2DFD-B67B735D4E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Part 1 </a:t>
            </a:r>
            <a:r>
              <a:rPr lang="en-GB" dirty="0"/>
              <a:t>– coding/data analysis exercises.</a:t>
            </a:r>
          </a:p>
          <a:p>
            <a:r>
              <a:rPr lang="en-GB" b="1" dirty="0"/>
              <a:t>Part 2 </a:t>
            </a:r>
            <a:r>
              <a:rPr lang="en-GB" dirty="0"/>
              <a:t>– working on your research project.</a:t>
            </a:r>
          </a:p>
        </p:txBody>
      </p:sp>
    </p:spTree>
    <p:extLst>
      <p:ext uri="{BB962C8B-B14F-4D97-AF65-F5344CB8AC3E}">
        <p14:creationId xmlns:p14="http://schemas.microsoft.com/office/powerpoint/2010/main" val="31992828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274EE-17BD-5EE8-100E-9083C43C8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Part 1 – Coding and data analysis exercises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92A454-1126-21DA-5EFC-32C20DF06F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995837" cy="4575175"/>
          </a:xfrm>
        </p:spPr>
        <p:txBody>
          <a:bodyPr>
            <a:noAutofit/>
          </a:bodyPr>
          <a:lstStyle/>
          <a:p>
            <a:r>
              <a:rPr lang="en-GB" dirty="0"/>
              <a:t>Open the Lab Tutorial exercises file via the link on Moodle.</a:t>
            </a:r>
          </a:p>
          <a:p>
            <a:r>
              <a:rPr lang="en-GB" b="1" dirty="0"/>
              <a:t>Exercises under ‘Tutorial 2’ heading.</a:t>
            </a:r>
            <a:endParaRPr lang="en-GB" dirty="0"/>
          </a:p>
          <a:p>
            <a:r>
              <a:rPr lang="en-GB" dirty="0"/>
              <a:t>Open David’s </a:t>
            </a:r>
            <a:r>
              <a:rPr lang="en-GB" b="1" dirty="0"/>
              <a:t>Lecture Notes 2 </a:t>
            </a:r>
            <a:r>
              <a:rPr lang="en-GB" dirty="0"/>
              <a:t>and </a:t>
            </a:r>
            <a:r>
              <a:rPr lang="en-GB" b="1" dirty="0"/>
              <a:t>Lecture Notes 3</a:t>
            </a:r>
            <a:r>
              <a:rPr lang="en-GB" dirty="0"/>
              <a:t> for reference.</a:t>
            </a:r>
          </a:p>
          <a:p>
            <a:r>
              <a:rPr lang="en-GB" dirty="0"/>
              <a:t>You may work </a:t>
            </a:r>
            <a:r>
              <a:rPr lang="en-GB" b="1" dirty="0"/>
              <a:t>independently</a:t>
            </a:r>
            <a:r>
              <a:rPr lang="en-GB" dirty="0"/>
              <a:t> or </a:t>
            </a:r>
            <a:r>
              <a:rPr lang="en-GB" b="1" dirty="0"/>
              <a:t>in groups</a:t>
            </a:r>
            <a:r>
              <a:rPr lang="en-GB" dirty="0"/>
              <a:t>. I’m here to support you and answer your questions.</a:t>
            </a:r>
          </a:p>
          <a:p>
            <a:r>
              <a:rPr lang="en-GB" dirty="0">
                <a:solidFill>
                  <a:srgbClr val="C00000"/>
                </a:solidFill>
              </a:rPr>
              <a:t>Think about (and discuss with your peers) what each line of code </a:t>
            </a:r>
            <a:r>
              <a:rPr lang="en-GB" b="1" i="1" dirty="0">
                <a:solidFill>
                  <a:srgbClr val="C00000"/>
                </a:solidFill>
              </a:rPr>
              <a:t>does</a:t>
            </a:r>
            <a:r>
              <a:rPr lang="en-GB" dirty="0">
                <a:solidFill>
                  <a:srgbClr val="C00000"/>
                </a:solidFill>
              </a:rPr>
              <a:t> and what the output </a:t>
            </a:r>
            <a:r>
              <a:rPr lang="en-GB" b="1" i="1" dirty="0">
                <a:solidFill>
                  <a:srgbClr val="C00000"/>
                </a:solidFill>
              </a:rPr>
              <a:t>means</a:t>
            </a:r>
            <a:r>
              <a:rPr lang="en-GB" dirty="0">
                <a:solidFill>
                  <a:srgbClr val="C00000"/>
                </a:solidFill>
              </a:rPr>
              <a:t>. That’s how you </a:t>
            </a:r>
            <a:r>
              <a:rPr lang="en-GB" i="1" dirty="0">
                <a:solidFill>
                  <a:srgbClr val="C00000"/>
                </a:solidFill>
              </a:rPr>
              <a:t>learn</a:t>
            </a:r>
            <a:r>
              <a:rPr lang="en-GB" dirty="0">
                <a:solidFill>
                  <a:srgbClr val="C00000"/>
                </a:solidFill>
              </a:rPr>
              <a:t>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258935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6E507-463D-A756-CBA3-B53D3E7C9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Part 1 – Coding and data analysis exercises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EFB78B-6D87-5DEE-432B-7E96B09AE1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47315"/>
          </a:xfrm>
        </p:spPr>
        <p:txBody>
          <a:bodyPr>
            <a:noAutofit/>
          </a:bodyPr>
          <a:lstStyle/>
          <a:p>
            <a:r>
              <a:rPr lang="en-GB" sz="2000" dirty="0"/>
              <a:t>Inspect your data, e.g., class of variables, odd values, missing values?</a:t>
            </a:r>
          </a:p>
          <a:p>
            <a:pPr lvl="1"/>
            <a:r>
              <a:rPr lang="en-GB" sz="1800" b="1" dirty="0">
                <a:solidFill>
                  <a:schemeClr val="accent1"/>
                </a:solidFill>
              </a:rPr>
              <a:t>glimpse()</a:t>
            </a:r>
          </a:p>
          <a:p>
            <a:pPr lvl="1"/>
            <a:r>
              <a:rPr lang="en-GB" sz="1800" b="1" dirty="0">
                <a:solidFill>
                  <a:schemeClr val="accent1"/>
                </a:solidFill>
              </a:rPr>
              <a:t>arrange()</a:t>
            </a:r>
          </a:p>
          <a:p>
            <a:pPr lvl="1"/>
            <a:r>
              <a:rPr lang="en-GB" sz="1800" b="1" dirty="0">
                <a:solidFill>
                  <a:schemeClr val="accent1"/>
                </a:solidFill>
              </a:rPr>
              <a:t>arrange(</a:t>
            </a:r>
            <a:r>
              <a:rPr lang="en-GB" sz="1800" b="1" dirty="0" err="1">
                <a:solidFill>
                  <a:schemeClr val="accent1"/>
                </a:solidFill>
              </a:rPr>
              <a:t>desc</a:t>
            </a:r>
            <a:r>
              <a:rPr lang="en-GB" sz="1800" b="1" dirty="0">
                <a:solidFill>
                  <a:schemeClr val="accent1"/>
                </a:solidFill>
              </a:rPr>
              <a:t>())</a:t>
            </a:r>
          </a:p>
          <a:p>
            <a:pPr lvl="1"/>
            <a:r>
              <a:rPr lang="en-GB" sz="1800" b="1" dirty="0">
                <a:solidFill>
                  <a:schemeClr val="accent1"/>
                </a:solidFill>
              </a:rPr>
              <a:t>mutate()</a:t>
            </a:r>
          </a:p>
          <a:p>
            <a:pPr lvl="1"/>
            <a:r>
              <a:rPr lang="en-GB" sz="1800" b="1" dirty="0">
                <a:solidFill>
                  <a:schemeClr val="accent1"/>
                </a:solidFill>
              </a:rPr>
              <a:t>sum(</a:t>
            </a:r>
            <a:r>
              <a:rPr lang="en-GB" sz="1800" b="1" dirty="0" err="1">
                <a:solidFill>
                  <a:schemeClr val="accent1"/>
                </a:solidFill>
              </a:rPr>
              <a:t>is.na</a:t>
            </a:r>
            <a:r>
              <a:rPr lang="en-GB" sz="1800" b="1">
                <a:solidFill>
                  <a:schemeClr val="accent1"/>
                </a:solidFill>
              </a:rPr>
              <a:t>())</a:t>
            </a:r>
            <a:endParaRPr lang="en-GB" sz="1800" b="1" dirty="0">
              <a:solidFill>
                <a:schemeClr val="accent1"/>
              </a:solidFill>
            </a:endParaRPr>
          </a:p>
          <a:p>
            <a:r>
              <a:rPr lang="en-GB" sz="2000" dirty="0"/>
              <a:t>Calculate </a:t>
            </a:r>
            <a:r>
              <a:rPr lang="en-GB" sz="2000" b="1" dirty="0"/>
              <a:t>summary statistics </a:t>
            </a:r>
            <a:r>
              <a:rPr lang="en-GB" sz="2000" dirty="0"/>
              <a:t>for </a:t>
            </a:r>
            <a:r>
              <a:rPr lang="en-GB" sz="2000" i="1" dirty="0"/>
              <a:t>price, bedrooms, bathrooms</a:t>
            </a:r>
            <a:r>
              <a:rPr lang="en-GB" sz="2000" dirty="0"/>
              <a:t>. Interpret the output.</a:t>
            </a:r>
          </a:p>
          <a:p>
            <a:r>
              <a:rPr lang="en-GB" sz="2000" dirty="0"/>
              <a:t>Use </a:t>
            </a:r>
            <a:r>
              <a:rPr lang="en-GB" sz="2000" b="1" dirty="0">
                <a:solidFill>
                  <a:schemeClr val="accent1"/>
                </a:solidFill>
              </a:rPr>
              <a:t>filter() </a:t>
            </a:r>
            <a:r>
              <a:rPr lang="en-GB" sz="2000" dirty="0"/>
              <a:t>to create a subset with a ‘reasonable’ range of values for price and bathrooms.</a:t>
            </a:r>
          </a:p>
          <a:p>
            <a:pPr lvl="1"/>
            <a:r>
              <a:rPr lang="en-GB" sz="1800" dirty="0"/>
              <a:t>What’s a ‘reasonable’ price per night for a property in Edinburgh?</a:t>
            </a:r>
          </a:p>
          <a:p>
            <a:pPr lvl="1"/>
            <a:r>
              <a:rPr lang="en-GB" sz="1800" dirty="0"/>
              <a:t>What’s a ‘reasonable’ number of bathrooms?</a:t>
            </a:r>
          </a:p>
          <a:p>
            <a:pPr lvl="1"/>
            <a:r>
              <a:rPr lang="en-GB" sz="1800" i="1" dirty="0"/>
              <a:t>How do you decide?</a:t>
            </a:r>
          </a:p>
          <a:p>
            <a:r>
              <a:rPr lang="en-GB" sz="2000" dirty="0"/>
              <a:t>Make a </a:t>
            </a:r>
            <a:r>
              <a:rPr lang="en-GB" sz="2000" b="1" dirty="0"/>
              <a:t>frequency table </a:t>
            </a:r>
            <a:r>
              <a:rPr lang="en-GB" sz="2000" dirty="0"/>
              <a:t>showing the number and percentage of listings of each room type.</a:t>
            </a:r>
          </a:p>
          <a:p>
            <a:r>
              <a:rPr lang="en-GB" sz="2000" dirty="0"/>
              <a:t>Make a table showing the summary statistics for price broken down by room type.</a:t>
            </a:r>
          </a:p>
          <a:p>
            <a:pPr lvl="1"/>
            <a:r>
              <a:rPr lang="en-GB" sz="1800" b="1" dirty="0" err="1">
                <a:solidFill>
                  <a:schemeClr val="accent1"/>
                </a:solidFill>
              </a:rPr>
              <a:t>group_by</a:t>
            </a:r>
            <a:r>
              <a:rPr lang="en-GB" sz="1800" b="1" dirty="0">
                <a:solidFill>
                  <a:schemeClr val="accent1"/>
                </a:solidFill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950324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E010F-DA19-2F87-18CD-5E7DAF307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Part 2 – Working towards your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1D25C-8FBA-3C6E-2AB2-EF8C874DA0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Define a research question – something that interests you, aligns with your PhD/Masters research and can be answered empirically. </a:t>
            </a:r>
          </a:p>
          <a:p>
            <a:r>
              <a:rPr lang="en-GB" dirty="0"/>
              <a:t>Identify a </a:t>
            </a:r>
            <a:r>
              <a:rPr lang="en-GB" b="1" dirty="0">
                <a:solidFill>
                  <a:srgbClr val="C00000"/>
                </a:solidFill>
              </a:rPr>
              <a:t>numeric (continuous) dependent variable (DV).</a:t>
            </a:r>
          </a:p>
          <a:p>
            <a:r>
              <a:rPr lang="en-GB" dirty="0"/>
              <a:t>Identify suitable independent variables (including control variables).</a:t>
            </a:r>
          </a:p>
          <a:p>
            <a:r>
              <a:rPr lang="en-GB" dirty="0"/>
              <a:t>Recommended datasets.</a:t>
            </a:r>
          </a:p>
          <a:p>
            <a:r>
              <a:rPr lang="en-GB" dirty="0"/>
              <a:t>Explore datasets in UK Data Service. </a:t>
            </a:r>
          </a:p>
          <a:p>
            <a:pPr marL="0" indent="0">
              <a:buNone/>
            </a:pP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073522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378</Words>
  <Application>Microsoft Macintosh PowerPoint</Application>
  <PresentationFormat>Widescreen</PresentationFormat>
  <Paragraphs>38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Wingdings</vt:lpstr>
      <vt:lpstr>Office Theme</vt:lpstr>
      <vt:lpstr>Quantitative Data Analysis Lab 2</vt:lpstr>
      <vt:lpstr>Checklist!</vt:lpstr>
      <vt:lpstr>Today</vt:lpstr>
      <vt:lpstr>Part 1 – Coding and data analysis exercises</vt:lpstr>
      <vt:lpstr>Part 1 – Coding and data analysis exercises</vt:lpstr>
      <vt:lpstr>Part 2 – Working towards your project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Plamena Panayotova</dc:creator>
  <cp:lastModifiedBy>Plamena Panayotova</cp:lastModifiedBy>
  <cp:revision>1</cp:revision>
  <dcterms:created xsi:type="dcterms:W3CDTF">2025-01-27T17:09:23Z</dcterms:created>
  <dcterms:modified xsi:type="dcterms:W3CDTF">2026-10-09T08:13:15Z</dcterms:modified>
</cp:coreProperties>
</file>